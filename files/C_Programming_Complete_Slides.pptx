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62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3906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01768"/>
            <a:ext cx="9144000" cy="1371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371600"/>
            <a:ext cx="9144000" cy="2377440"/>
          </a:xfrm>
          <a:prstGeom prst="rect">
            <a:avLst/>
          </a:prstGeom>
          <a:solidFill>
            <a:srgbClr val="152842"/>
          </a:solidFill>
          <a:ln w="12700">
            <a:solidFill>
              <a:srgbClr val="1528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417320"/>
            <a:ext cx="8595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PROGRAMMING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274320" y="256032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Learning Guide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74320" y="315468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to Advanced Mastery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 err="1">
                <a:solidFill>
                  <a:srgbClr val="7FA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Purbanchal</a:t>
            </a:r>
            <a:r>
              <a:rPr lang="en-US" sz="1100" dirty="0">
                <a:solidFill>
                  <a:srgbClr val="7FA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University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Learn Today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78240" y="4754880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4114800" cy="822960"/>
          </a:xfrm>
          <a:prstGeom prst="rect">
            <a:avLst/>
          </a:prstGeom>
          <a:solidFill>
            <a:srgbClr val="D6E8F7"/>
          </a:solidFill>
          <a:ln w="12700">
            <a:solidFill>
              <a:srgbClr val="AACC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68680"/>
            <a:ext cx="73152" cy="82296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90525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Learning Roadmap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29844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stages from beginner to master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874520"/>
            <a:ext cx="4114800" cy="822960"/>
          </a:xfrm>
          <a:prstGeom prst="rect">
            <a:avLst/>
          </a:prstGeom>
          <a:solidFill>
            <a:srgbClr val="ECF0F1"/>
          </a:solidFill>
          <a:ln w="12700">
            <a:solidFill>
              <a:srgbClr val="AACC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874520"/>
            <a:ext cx="73152" cy="82296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91109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What is Programming?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230428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Analogies &amp; real-world examples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880360"/>
            <a:ext cx="4114800" cy="822960"/>
          </a:xfrm>
          <a:prstGeom prst="rect">
            <a:avLst/>
          </a:prstGeom>
          <a:solidFill>
            <a:srgbClr val="D6E8F7"/>
          </a:solidFill>
          <a:ln w="12700">
            <a:solidFill>
              <a:srgbClr val="AACC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880360"/>
            <a:ext cx="73152" cy="82296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91693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C Fundamentals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" y="331012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types, operators, I/O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3886200"/>
            <a:ext cx="4114800" cy="822960"/>
          </a:xfrm>
          <a:prstGeom prst="rect">
            <a:avLst/>
          </a:prstGeom>
          <a:solidFill>
            <a:srgbClr val="ECF0F1"/>
          </a:solidFill>
          <a:ln w="12700">
            <a:solidFill>
              <a:srgbClr val="AACC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886200"/>
            <a:ext cx="73152" cy="82296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92277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Control &amp; Functions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1480" y="431596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Loops, conditions, recursion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868680"/>
            <a:ext cx="4114800" cy="822960"/>
          </a:xfrm>
          <a:prstGeom prst="rect">
            <a:avLst/>
          </a:prstGeom>
          <a:solidFill>
            <a:srgbClr val="D6E8F7"/>
          </a:solidFill>
          <a:ln w="12700">
            <a:solidFill>
              <a:srgbClr val="AACC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868680"/>
            <a:ext cx="73152" cy="82296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90525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Arrays &amp; Pointers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00600" y="129844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management, DMA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1874520"/>
            <a:ext cx="4114800" cy="822960"/>
          </a:xfrm>
          <a:prstGeom prst="rect">
            <a:avLst/>
          </a:prstGeom>
          <a:solidFill>
            <a:srgbClr val="ECF0F1"/>
          </a:solidFill>
          <a:ln w="12700">
            <a:solidFill>
              <a:srgbClr val="AACC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1874520"/>
            <a:ext cx="73152" cy="82296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191109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Structures &amp; Files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00600" y="230428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data + file I/O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2880360"/>
            <a:ext cx="4114800" cy="822960"/>
          </a:xfrm>
          <a:prstGeom prst="rect">
            <a:avLst/>
          </a:prstGeom>
          <a:solidFill>
            <a:srgbClr val="D6E8F7"/>
          </a:solidFill>
          <a:ln w="12700">
            <a:solidFill>
              <a:srgbClr val="AACC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2880360"/>
            <a:ext cx="73152" cy="82296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291693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🗓️ 12-Week Curriculum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00600" y="331012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weekly plan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63440" y="3886200"/>
            <a:ext cx="4114800" cy="822960"/>
          </a:xfrm>
          <a:prstGeom prst="rect">
            <a:avLst/>
          </a:prstGeom>
          <a:solidFill>
            <a:srgbClr val="ECF0F1"/>
          </a:solidFill>
          <a:ln w="12700">
            <a:solidFill>
              <a:srgbClr val="AACC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63440" y="3886200"/>
            <a:ext cx="73152" cy="82296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392277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20+ Project Ideas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00600" y="431596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to exam topics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10-Stage Learning Roadmap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78240" y="4754880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9728" y="914400"/>
            <a:ext cx="1645920" cy="15544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58368" y="1005840"/>
            <a:ext cx="54864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00584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" y="153619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9728" y="178308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Mindset &amp; Setup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892808" y="914400"/>
            <a:ext cx="1645920" cy="155448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41448" y="1005840"/>
            <a:ext cx="54864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41448" y="100584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892808" y="153619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892808" y="178308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Solving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75888" y="914400"/>
            <a:ext cx="1645920" cy="155448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24528" y="1005840"/>
            <a:ext cx="54864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24528" y="100584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675888" y="153619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675888" y="178308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Basics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58968" y="914400"/>
            <a:ext cx="1645920" cy="1554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07608" y="1005840"/>
            <a:ext cx="54864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07608" y="100584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58968" y="153619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458968" y="178308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&amp; I/O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242048" y="914400"/>
            <a:ext cx="1645920" cy="1554480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790688" y="1005840"/>
            <a:ext cx="54864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90688" y="100584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242048" y="153619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242048" y="178308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Flow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09728" y="2834640"/>
            <a:ext cx="1645920" cy="155448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58368" y="2926080"/>
            <a:ext cx="54864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" y="292608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9728" y="345643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09728" y="370332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892808" y="2834640"/>
            <a:ext cx="1645920" cy="155448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441448" y="2926080"/>
            <a:ext cx="54864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441448" y="292608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892808" y="345643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892808" y="370332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&amp; Strings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675888" y="2834640"/>
            <a:ext cx="1645920" cy="15544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224528" y="2926080"/>
            <a:ext cx="54864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224528" y="292608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3675888" y="345643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675888" y="370332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458968" y="2834640"/>
            <a:ext cx="1645920" cy="155448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007608" y="2926080"/>
            <a:ext cx="54864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007608" y="292608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5458968" y="345643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458968" y="370332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242048" y="2834640"/>
            <a:ext cx="1645920" cy="155448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7790688" y="2926080"/>
            <a:ext cx="54864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790688" y="292608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9-10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7242048" y="345643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7242048" y="370332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&amp; Projects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Programming? (Real-World Analogies)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78240" y="4754880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4023360" cy="1417320"/>
          </a:xfrm>
          <a:prstGeom prst="rect">
            <a:avLst/>
          </a:prstGeom>
          <a:solidFill>
            <a:srgbClr val="D6E8F7"/>
          </a:solidFill>
          <a:ln w="12700">
            <a:solidFill>
              <a:srgbClr val="AACC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91440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🍳 The Recipe Analogy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316736"/>
            <a:ext cx="3840480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program = recipe for the computer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Ingredients = data (input)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Steps = instructions (code)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Dish = output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Kitchen = computer hardware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46320" y="914400"/>
            <a:ext cx="4023360" cy="1417320"/>
          </a:xfrm>
          <a:prstGeom prst="rect">
            <a:avLst/>
          </a:prstGeom>
          <a:solidFill>
            <a:srgbClr val="FFE9D6"/>
          </a:solidFill>
          <a:ln w="12700">
            <a:solidFill>
              <a:srgbClr val="FFAA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91440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The House Analogy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316736"/>
            <a:ext cx="3840480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C = building a house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Foundation = C basics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Walls = functions &amp; arrays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Wiring = pointers &amp; memory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Furnishing = files &amp; structures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514600"/>
            <a:ext cx="4023360" cy="1417320"/>
          </a:xfrm>
          <a:prstGeom prst="rect">
            <a:avLst/>
          </a:prstGeom>
          <a:solidFill>
            <a:srgbClr val="E8F5E9"/>
          </a:solidFill>
          <a:ln w="12700">
            <a:solidFill>
              <a:srgbClr val="80C98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" y="251460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The Company Analogy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" y="2916936"/>
            <a:ext cx="3840480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= departments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main() = CEO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scanf() = receptionist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printf() = spokesperson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Each function = one job only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0" y="2514600"/>
            <a:ext cx="4023360" cy="1417320"/>
          </a:xfrm>
          <a:prstGeom prst="rect">
            <a:avLst/>
          </a:prstGeom>
          <a:solidFill>
            <a:srgbClr val="F3E5F5"/>
          </a:solidFill>
          <a:ln w="12700">
            <a:solidFill>
              <a:srgbClr val="CE93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46320" y="251460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The Address Analogy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37760" y="2916936"/>
            <a:ext cx="3840480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 = piece of paper with address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Variable = house (stores things)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Pointer = address written on paper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*ptr = going TO the house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&amp;var = getting the address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74320" y="416052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Key Insight: A computer does EXACTLY what you tell it — nothing more, nothing less. Precision is everything!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Structure of a C Program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78240" y="4754880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5029200" cy="393192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005840"/>
            <a:ext cx="48463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My First C Program */
</a:t>
            </a:r>
            <a:r>
              <a:rPr lang="en-US" sz="13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</a:t>
            </a:r>
            <a:r>
              <a:rPr lang="en-US" sz="13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&lt;stdio.h&gt;
</a:t>
            </a: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3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3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main() {
</a:t>
            </a: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3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age = 20;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r>
              <a:rPr lang="en-US" sz="13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gpa = 3.75;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</a:t>
            </a:r>
            <a:r>
              <a:rPr lang="en-US" sz="13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("Age=%d GPA=%.2f", age, gpa);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3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0;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303520" y="1078992"/>
            <a:ext cx="411480" cy="0"/>
          </a:xfrm>
          <a:prstGeom prst="line">
            <a:avLst/>
          </a:prstGeom>
          <a:noFill/>
          <a:ln w="12700">
            <a:solidFill>
              <a:srgbClr val="6A9955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5715000" y="950976"/>
            <a:ext cx="3200400" cy="502920"/>
          </a:xfrm>
          <a:prstGeom prst="rect">
            <a:avLst/>
          </a:prstGeom>
          <a:solidFill>
            <a:srgbClr val="ECF0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42432" y="950976"/>
            <a:ext cx="1188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A99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742432" y="118872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Ignored by compiler, for humans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303520" y="1581912"/>
            <a:ext cx="411480" cy="0"/>
          </a:xfrm>
          <a:prstGeom prst="line">
            <a:avLst/>
          </a:prstGeom>
          <a:noFill/>
          <a:ln w="12700">
            <a:solidFill>
              <a:srgbClr val="C586C0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5715000" y="1453896"/>
            <a:ext cx="3200400" cy="502920"/>
          </a:xfrm>
          <a:prstGeom prst="rect">
            <a:avLst/>
          </a:prstGeom>
          <a:solidFill>
            <a:srgbClr val="ECF0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42432" y="1453896"/>
            <a:ext cx="1188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58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Preprocessor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742432" y="169164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header files before compile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303520" y="2157984"/>
            <a:ext cx="411480" cy="0"/>
          </a:xfrm>
          <a:prstGeom prst="line">
            <a:avLst/>
          </a:prstGeom>
          <a:noFill/>
          <a:ln w="12700">
            <a:solidFill>
              <a:srgbClr val="DCDCAA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5715000" y="2029968"/>
            <a:ext cx="3200400" cy="502920"/>
          </a:xfrm>
          <a:prstGeom prst="rect">
            <a:avLst/>
          </a:prstGeom>
          <a:solidFill>
            <a:srgbClr val="ECF0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42432" y="2029968"/>
            <a:ext cx="1188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D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main()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742432" y="226771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 — program starts here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303520" y="2670048"/>
            <a:ext cx="411480" cy="0"/>
          </a:xfrm>
          <a:prstGeom prst="line">
            <a:avLst/>
          </a:prstGeom>
          <a:noFill/>
          <a:ln w="12700">
            <a:solidFill>
              <a:srgbClr val="4FC1FF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5715000" y="2542032"/>
            <a:ext cx="3200400" cy="502920"/>
          </a:xfrm>
          <a:prstGeom prst="rect">
            <a:avLst/>
          </a:prstGeom>
          <a:solidFill>
            <a:srgbClr val="ECF0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42432" y="2542032"/>
            <a:ext cx="1188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C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742432" y="2779776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storage locations in RAM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303520" y="3474720"/>
            <a:ext cx="411480" cy="0"/>
          </a:xfrm>
          <a:prstGeom prst="line">
            <a:avLst/>
          </a:prstGeom>
          <a:noFill/>
          <a:ln w="12700">
            <a:solidFill>
              <a:srgbClr val="DCDCAA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5715000" y="3346704"/>
            <a:ext cx="3200400" cy="502920"/>
          </a:xfrm>
          <a:prstGeom prst="rect">
            <a:avLst/>
          </a:prstGeom>
          <a:solidFill>
            <a:srgbClr val="ECF0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42432" y="3346704"/>
            <a:ext cx="1188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D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printf()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742432" y="358444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formatted output to screen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303520" y="4133088"/>
            <a:ext cx="411480" cy="0"/>
          </a:xfrm>
          <a:prstGeom prst="line">
            <a:avLst/>
          </a:prstGeom>
          <a:noFill/>
          <a:ln w="12700">
            <a:solidFill>
              <a:srgbClr val="C586C0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5715000" y="4005072"/>
            <a:ext cx="3200400" cy="502920"/>
          </a:xfrm>
          <a:prstGeom prst="rect">
            <a:avLst/>
          </a:prstGeom>
          <a:solidFill>
            <a:srgbClr val="ECF0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42432" y="4005072"/>
            <a:ext cx="1188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58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742432" y="4242816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successful program end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 &amp; Variables in C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78240" y="4754880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</a:rPr>
              <a:t>6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41148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Data Type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Size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Range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Format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Example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 bytes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-2.1B to +2.1B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%d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int age = 20;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float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 bytes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±3.4e38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%f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float pi = 3.14;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double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 bytes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±1.7e308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%lf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double e = 2.718;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char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 byte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-128 to 127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%c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char g = 'A';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long int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 bytes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Very large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%ld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long pop = 29M;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unsigned int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 bytes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 to 4.2B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%u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unsigned n = 50;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void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 bytes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No value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N/A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void show();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in C — Complete Overview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78240" y="4754880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37744" y="868680"/>
            <a:ext cx="2011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980B9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37744" y="868680"/>
            <a:ext cx="2011680" cy="384048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7744" y="8686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1752" y="1289304"/>
            <a:ext cx="1883664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− * / %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10 % 3 = 1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3 = 3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10.0/3 = 3.33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14016" y="868680"/>
            <a:ext cx="2011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14016" y="868680"/>
            <a:ext cx="2011680" cy="3840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14016" y="8686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78024" y="1289304"/>
            <a:ext cx="1883664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 != &gt; &lt; &gt;= &lt;=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&gt; 3 → 1 (true)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== 6 → 0 (false)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90288" y="868680"/>
            <a:ext cx="2011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8E44A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90288" y="868680"/>
            <a:ext cx="2011680" cy="38404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90288" y="8686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54296" y="1289304"/>
            <a:ext cx="1883664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&amp;&amp; || !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(5&gt;3)&amp;&amp;(2&lt;4) → 1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!(1) → 0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766560" y="868680"/>
            <a:ext cx="2011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66560" y="868680"/>
            <a:ext cx="2011680" cy="38404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0" y="8686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30568" y="1289304"/>
            <a:ext cx="1883664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+= -= *= /=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+= 5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same as x = x+5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37744" y="2834640"/>
            <a:ext cx="2011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37744" y="2834640"/>
            <a:ext cx="2011680" cy="38404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37744" y="28346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Increment/Decrement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01752" y="3255264"/>
            <a:ext cx="1883664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 --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++a: increment first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a++: use first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414016" y="2834640"/>
            <a:ext cx="2011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085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414016" y="2834640"/>
            <a:ext cx="2011680" cy="384048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14016" y="28346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Ternary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478024" y="3255264"/>
            <a:ext cx="1883664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 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 = (a&gt;b) ? a : b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Short form of if-else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90288" y="2834640"/>
            <a:ext cx="2011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7F8C8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90288" y="2834640"/>
            <a:ext cx="2011680" cy="384048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90288" y="28346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Bitwise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654296" y="3255264"/>
            <a:ext cx="1883664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 | ^ ~ &lt;&lt; &gt;&gt;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5&amp;3 = 1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5|3 = 7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5&lt;&lt;1 = 10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766560" y="2834640"/>
            <a:ext cx="2011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54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766560" y="2834640"/>
            <a:ext cx="2011680" cy="384048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66560" y="28346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sizeof()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830568" y="3255264"/>
            <a:ext cx="1883664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sizeof(int) = 4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sizeof(char) = 1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sizeof(float) = 4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Statements — Loops &amp; Conditions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78240" y="4754880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2743200" cy="182880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144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Loop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7472" y="1280160"/>
            <a:ext cx="2596896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for(i=1; i&lt;=5; i++)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printf("%d ",i);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Output: 1 2 3 4 5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when count is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known in advance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0" y="914400"/>
            <a:ext cx="2743200" cy="182880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9144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FC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Loop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73552" y="1280160"/>
            <a:ext cx="2596896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i=1;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while(i&lt;=5)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printf("%d ",i);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i++;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Entry-controlled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26480" y="914400"/>
            <a:ext cx="2743200" cy="182880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9144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A99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do-while Loop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99632" y="1280160"/>
            <a:ext cx="2596896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scanf("%d",&amp;ch);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while(ch!=0);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Exit-controlled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Runs at least once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926080"/>
            <a:ext cx="4114800" cy="1920240"/>
          </a:xfrm>
          <a:prstGeom prst="rect">
            <a:avLst/>
          </a:prstGeom>
          <a:solidFill>
            <a:srgbClr val="ECF0F1"/>
          </a:solidFill>
          <a:ln w="12700">
            <a:solidFill>
              <a:srgbClr val="BBCC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926080"/>
            <a:ext cx="4114800" cy="34747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9260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else if / else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7472" y="3291840"/>
            <a:ext cx="3931920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if(marks&gt;=90) puts("A+");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if(marks&gt;=80) puts("A");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if(marks&gt;=70) puts("B");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if(marks&gt;=40) puts("Pass");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puts("Fail");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0" y="2926080"/>
            <a:ext cx="4297680" cy="1920240"/>
          </a:xfrm>
          <a:prstGeom prst="rect">
            <a:avLst/>
          </a:prstGeom>
          <a:solidFill>
            <a:srgbClr val="ECF0F1"/>
          </a:solidFill>
          <a:ln w="12700">
            <a:solidFill>
              <a:srgbClr val="BBCC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0" y="2926080"/>
            <a:ext cx="4297680" cy="34747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2926080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switch-case (menu programs)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45152" y="3291840"/>
            <a:ext cx="4114800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switch(choice)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1: printf("Add"); break;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2: printf("Sub"); break;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default: printf("Invalid");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break is CRUCIAL!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— The Building Blocks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78240" y="4754880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4389120" cy="393192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14400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Anatomy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7472" y="1298448"/>
            <a:ext cx="42062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Prototype
</a:t>
            </a:r>
            <a:r>
              <a:rPr lang="en-US" sz="11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add(</a:t>
            </a:r>
            <a:r>
              <a:rPr lang="en-US" sz="11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a, </a:t>
            </a:r>
            <a:r>
              <a:rPr lang="en-US" sz="11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b);
</a:t>
            </a:r>
            <a:r>
              <a:rPr lang="en-US" sz="11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main()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 = </a:t>
            </a: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(10, 20);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</a:t>
            </a: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("%d", res);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0;
}
</a:t>
            </a: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Definition
</a:t>
            </a:r>
            <a:r>
              <a:rPr lang="en-US" sz="11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add(</a:t>
            </a:r>
            <a:r>
              <a:rPr lang="en-US" sz="11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a, </a:t>
            </a:r>
            <a:r>
              <a:rPr lang="en-US" sz="11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+ b;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914400"/>
            <a:ext cx="4114800" cy="914400"/>
          </a:xfrm>
          <a:prstGeom prst="rect">
            <a:avLst/>
          </a:prstGeom>
          <a:solidFill>
            <a:srgbClr val="ECF0F1"/>
          </a:solidFill>
          <a:ln w="12700">
            <a:solidFill>
              <a:srgbClr val="2980B9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914400"/>
            <a:ext cx="91440" cy="91440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93268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by Value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83480" y="1261872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Copies are passed — original is SAFE.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void f(int x) — x is a copy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846320" y="1892808"/>
            <a:ext cx="4114800" cy="914400"/>
          </a:xfrm>
          <a:prstGeom prst="rect">
            <a:avLst/>
          </a:prstGeom>
          <a:solidFill>
            <a:srgbClr val="ECF0F1"/>
          </a:solidFill>
          <a:ln w="1270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1892808"/>
            <a:ext cx="91440" cy="9144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1911096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by Reference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83480" y="2240280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passed — original is CHANGED.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void f(int *x) — modify with *x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46320" y="2871216"/>
            <a:ext cx="4114800" cy="914400"/>
          </a:xfrm>
          <a:prstGeom prst="rect">
            <a:avLst/>
          </a:prstGeom>
          <a:solidFill>
            <a:srgbClr val="ECF0F1"/>
          </a:solidFill>
          <a:ln w="127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2871216"/>
            <a:ext cx="91440" cy="9144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2889504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83480" y="3218688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calls itself.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BASE CASE to stop.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factorial(n) = n * factorial(n-1)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46320" y="3849624"/>
            <a:ext cx="4114800" cy="914400"/>
          </a:xfrm>
          <a:prstGeom prst="rect">
            <a:avLst/>
          </a:prstGeom>
          <a:solidFill>
            <a:srgbClr val="ECF0F1"/>
          </a:solidFill>
          <a:ln w="12700">
            <a:solidFill>
              <a:srgbClr val="8E44A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3849624"/>
            <a:ext cx="91440" cy="91440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3867912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Local/Global/Static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83480" y="4197096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Local: inside function only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Global: whole program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Static: persists between calls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&amp; Pointers — Memory Mastery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78240" y="4754880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4160520" cy="34747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68680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Arrays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216152"/>
            <a:ext cx="4160520" cy="356616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261872"/>
            <a:ext cx="4023360" cy="3456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marks[5]={85,72,90,68,78};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Index:  [0] [1] [2] [3] [4]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printf("%d", marks[2]); // 90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2D Array (matrix)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mat[3][4];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mat[1][2] = 7;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Passing to function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show(int arr[], int n){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for(int i=0;i&lt;n;i++)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printf("%d ",arr[i]);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868680"/>
            <a:ext cx="4160520" cy="34747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868680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👉 Pointers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09160" y="1216152"/>
            <a:ext cx="4160520" cy="356616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82312" y="1261872"/>
            <a:ext cx="4023360" cy="3456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 = 10;
</a:t>
            </a:r>
            <a:r>
              <a:rPr lang="en-US" sz="10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*ptr = &amp;x;
</a:t>
            </a: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*ptr = 10 (dereference)
// &amp;x = address of x
*ptr = 25; // changes x!
</a:t>
            </a:r>
            <a:r>
              <a:rPr lang="en-US" sz="10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DMA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*arr;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arr=(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*)malloc(n*sizeof(</a:t>
            </a:r>
            <a:r>
              <a:rPr lang="en-US" sz="10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 use arr ...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free(arr);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 = NULL;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Structures, Unions &amp; File Handling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78240" y="4754880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4160520" cy="347472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68680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Structures vs Unions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216152"/>
            <a:ext cx="4160520" cy="356616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261872"/>
            <a:ext cx="4023360" cy="3456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Student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 rollNo;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char name[50];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float marks;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Student s1;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s1.rollNo = 101;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strcpy(s1.name,"Ram");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s1.marks = 87.5;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Pointer to struct: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Student *p=&amp;s1;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printf("%s",p-&gt;name);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struct: all members have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their OWN memory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union: SHARE memory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09160" y="868680"/>
            <a:ext cx="4160520" cy="347472"/>
          </a:xfrm>
          <a:prstGeom prst="rect">
            <a:avLst/>
          </a:prstGeom>
          <a:solidFill>
            <a:srgbClr val="B7950B"/>
          </a:solidFill>
          <a:ln w="12700">
            <a:solidFill>
              <a:srgbClr val="B795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868680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File Handling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09160" y="1216152"/>
            <a:ext cx="4160520" cy="356616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82312" y="1261872"/>
            <a:ext cx="4023360" cy="3456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*fp;</a:t>
            </a:r>
            <a:endParaRPr lang="en-US" sz="920" dirty="0"/>
          </a:p>
          <a:p>
            <a:pPr marL="0" indent="0">
              <a:buNone/>
            </a:pP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WRITE mode: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fp=fopen("data.txt","w");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if(fp==NULL){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printf("Error!");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exit(1);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fprintf(fp,"%s %d\n",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name, age);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fclose(fp);</a:t>
            </a:r>
            <a:endParaRPr lang="en-US" sz="920" dirty="0"/>
          </a:p>
          <a:p>
            <a:pPr marL="0" indent="0">
              <a:buNone/>
            </a:pP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READ mode: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fp=fopen("data.txt","r");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 line[100];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while(fgets(line,100,fp)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!=NULL)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printf("%s",line);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fclose(fp);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12-Week Structured Study Plan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78240" y="4754880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</a:rPr>
              <a:t>12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416052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Week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Topic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Key Focus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Milestone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Setup + Problem Solving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Algorithms, flowcharts, install GCC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Draw flowchart for any basic problem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Introduction to C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Structure, compilation, Hello World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Compile &amp; run programs independently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 Fundamentals I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Data types, variables, #define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Know all types and their ranges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Operators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All operators, precedence, bit ops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Evaluate any expression correctly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Input &amp; Output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printf/scanf, format specifiers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Handle all I/O scenarios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Conditions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if-else, switch-case, ternary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Solve any decision-based problem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Loops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for/while/do-while, break, patterns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Write all loop types + nested patterns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Functions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Prototypes, scope, call by value/ref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Break any problem into functions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Recursion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Factorial, Fibonacci, GCD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Understand base case + recursion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Arrays &amp; Strings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1D/2D, sort, search, string funcs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Implement sorting algorithms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11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Pointers + DMA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Arithmetic, malloc/calloc/free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Debug pointer-related code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12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Structs + Files + Projects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struct, file I/O, mini-project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Complete one full mini-project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Mini-Project Ideas (Part 1: Beginner–Intermediate)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78240" y="4754880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</a:rPr>
              <a:t>13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4160520"/>
        </p:xfrm>
        <a:graphic>
          <a:graphicData uri="http://schemas.openxmlformats.org/drawingml/2006/table">
            <a:tbl>
              <a:tblPr/>
              <a:tblGrid>
                <a:gridCol w="59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Project Name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Level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Concepts Practiced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Exam Relevance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01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Simple Calculator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⭐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Functions, switch-case, loops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Very High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02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Number Guessing Game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⭐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Loops, rand(), conditionals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Medium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03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Grade Calculator &amp; GPA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⭐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Arrays, if-else, average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Very High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04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Currency Converter (NPR↔USD)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⭐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Functions, float, constants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Very High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05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Star Pattern Printer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⭐⭐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Nested loops, formatted output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High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06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Prime Numbers (100–200)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⭐⭐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Nested loops, arrays, conditions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Very High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07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Fibonacci &amp; Series Generator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⭐⭐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Loops, recursion, arrays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Very High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08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String Utilities Library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⭐⭐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All string functions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High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09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Palindrome Checker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⭐⭐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Strings, arrays, functions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High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Matrix Calculator (Add/Multiply)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⭐⭐⭐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2D arrays, functions, loops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Very High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Mini-Project Ideas (Part 2: Intermediate–Advanced)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78240" y="4754880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</a:rPr>
              <a:t>14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4160520"/>
        </p:xfrm>
        <a:graphic>
          <a:graphicData uri="http://schemas.openxmlformats.org/drawingml/2006/table">
            <a:tbl>
              <a:tblPr/>
              <a:tblGrid>
                <a:gridCol w="59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Project Name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Level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Concepts Practiced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Exam Relevance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11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Bubble Sort Visualizer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⭐⭐⭐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Arrays, sorting, pointers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Very High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12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Student Record System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⭐⭐⭐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Structures, arrays, functions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Very High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13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Word Counter / Text Analyzer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⭐⭐⭐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File I/O, strings, pointers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High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14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KP = ½mv² + mgh Calculator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⭐⭐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Math, float I/O, functions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Very High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15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Dynamic Memory Array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⭐⭐⭐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malloc/calloc/realloc/free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High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16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Binary Search Implementation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⭐⭐⭐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Arrays, recursion, pointers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High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17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Student DB with File Storage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⭐⭐⭐⭐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Structs + Files + DMA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Very High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18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Mini Bank Management System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⭐⭐⭐⭐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Structs, files, switch, funcs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Very High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19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Library Book Management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⭐⭐⭐⭐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Structs, file I/O, sort, search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High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20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Tic-Tac-Toe Game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⭐⭐⭐⭐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2D arrays, functions, game logic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Medium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Preparation — High-Priority Topics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78240" y="4754880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</a:rPr>
              <a:t>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8595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14400"/>
            <a:ext cx="109728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5097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CRITICAL — Every Year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325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(sorting, merging, 2D) • Pointers &amp; DMA • Functions &amp; Recursion • Structures &amp; Unions • File Handling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920240"/>
            <a:ext cx="8595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54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920240"/>
            <a:ext cx="109728" cy="914400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95681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HIGH — Most Years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331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handling programs • Sorting algorithms • Flowchart &amp; Algorithm • Control statements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926080"/>
            <a:ext cx="8595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AC0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926080"/>
            <a:ext cx="109728" cy="914400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96265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MEDIUM — Many Years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337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tracing programs • Bitwise operators • Local/global/static variables • Pointer-array relationship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3931920"/>
            <a:ext cx="8595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931920"/>
            <a:ext cx="109728" cy="9144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96849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LOWER PRIORITY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Graphics programming • escape sequences • typedef &amp; enum • Register &amp; extern storage class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4663440"/>
            <a:ext cx="8595360" cy="384048"/>
          </a:xfrm>
          <a:prstGeom prst="rect">
            <a:avLst/>
          </a:prstGeom>
          <a:solidFill>
            <a:srgbClr val="D6E8F7"/>
          </a:solidFill>
          <a:ln w="12700">
            <a:solidFill>
              <a:srgbClr val="AACC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466344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Always write algorithm/flowchart first in exams. Partial marks ARE given for correct logic even with minor syntax errors!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01768"/>
            <a:ext cx="9144000" cy="1371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Ready to Code! 🚀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371600" y="1627632"/>
            <a:ext cx="6400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Understand the concept before memorizing syntax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71600" y="2084832"/>
            <a:ext cx="6400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Write code every day — even 30 minutes makes a difference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2542032"/>
            <a:ext cx="6400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Debug your own errors — it's the fastest way to learn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2999232"/>
            <a:ext cx="6400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Attempt all past papers from 2003–2024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3456432"/>
            <a:ext cx="6400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Build at least 5 projects before your exam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3913632"/>
            <a:ext cx="6400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Form a study group — teach others to master yourself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5720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C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best way to learn programming is to write programs." — Dennis Ritchie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2092</Words>
  <Application>Microsoft Office PowerPoint</Application>
  <PresentationFormat>On-screen Show (16:9)</PresentationFormat>
  <Paragraphs>514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 Programming – Complete Learning Guide</dc:title>
  <dc:subject>PptxGenJS Presentation</dc:subject>
  <dc:creator>Expert Tutor</dc:creator>
  <cp:lastModifiedBy>Pawan KC</cp:lastModifiedBy>
  <cp:revision>3</cp:revision>
  <dcterms:created xsi:type="dcterms:W3CDTF">2026-04-18T03:18:46Z</dcterms:created>
  <dcterms:modified xsi:type="dcterms:W3CDTF">2026-04-18T03:26:26Z</dcterms:modified>
</cp:coreProperties>
</file>